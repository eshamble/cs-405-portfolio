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70" r:id="rId13"/>
    <p:sldId id="271" r:id="rId14"/>
    <p:sldId id="272" r:id="rId15"/>
    <p:sldId id="264" r:id="rId16"/>
    <p:sldId id="266" r:id="rId17"/>
    <p:sldId id="267" r:id="rId18"/>
    <p:sldId id="268" r:id="rId19"/>
    <p:sldId id="269" r:id="rId20"/>
  </p:sldIdLst>
  <p:sldSz cx="12192000" cy="6858000"/>
  <p:notesSz cx="6858000" cy="9144000"/>
  <p:embeddedFontLst>
    <p:embeddedFont>
      <p:font typeface="Century Gothic" panose="020B0502020202020204" pitchFamily="34" charset="0"/>
      <p:regular r:id="rId22"/>
      <p:bold r:id="rId23"/>
      <p:italic r:id="rId24"/>
      <p:boldItalic r:id="rId25"/>
    </p:embeddedFont>
  </p:embeddedFontLst>
  <p:custDataLst>
    <p:tags r:id="rId2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32" autoAdjust="0"/>
  </p:normalViewPr>
  <p:slideViewPr>
    <p:cSldViewPr snapToGrid="0">
      <p:cViewPr varScale="1">
        <p:scale>
          <a:sx n="47" d="100"/>
          <a:sy n="47" d="100"/>
        </p:scale>
        <p:origin x="1392"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Hello, this is my policy recommendation. Defense in depth is essential, as multiple layers of security make issues less and less likely. I included some developer styling guidelines as well, to reduce technical debt.</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I’ve listed some potential security risks based off what is addressed in my recommendations.</a:t>
            </a:r>
          </a:p>
          <a:p>
            <a:pPr marL="0" lvl="0" indent="0" algn="l" rtl="0">
              <a:lnSpc>
                <a:spcPct val="100000"/>
              </a:lnSpc>
              <a:spcBef>
                <a:spcPts val="0"/>
              </a:spcBef>
              <a:spcAft>
                <a:spcPts val="0"/>
              </a:spcAft>
              <a:buSzPts val="1100"/>
              <a:buNone/>
            </a:pPr>
            <a:r>
              <a:rPr lang="en-US" dirty="0"/>
              <a:t>Code Styling issues covers uncommented code, badly named variables, et cetera. This is within your control, so I would consider it to be unlikely, and it is lower priority than active security risks.</a:t>
            </a:r>
          </a:p>
          <a:p>
            <a:pPr marL="0" lvl="0" indent="0" algn="l" rtl="0">
              <a:lnSpc>
                <a:spcPct val="100000"/>
              </a:lnSpc>
              <a:spcBef>
                <a:spcPts val="0"/>
              </a:spcBef>
              <a:spcAft>
                <a:spcPts val="0"/>
              </a:spcAft>
              <a:buSzPts val="1100"/>
              <a:buNone/>
            </a:pPr>
            <a:r>
              <a:rPr lang="en-US" dirty="0"/>
              <a:t>Overflow I would consider likely due to user input, and high priority because it can have an impact on the program’s memory.</a:t>
            </a:r>
          </a:p>
          <a:p>
            <a:pPr marL="0" lvl="0" indent="0" algn="l" rtl="0">
              <a:lnSpc>
                <a:spcPct val="100000"/>
              </a:lnSpc>
              <a:spcBef>
                <a:spcPts val="0"/>
              </a:spcBef>
              <a:spcAft>
                <a:spcPts val="0"/>
              </a:spcAft>
              <a:buSzPts val="1100"/>
              <a:buNone/>
            </a:pPr>
            <a:r>
              <a:rPr lang="en-US" dirty="0"/>
              <a:t>SQL Injection, unlike Overflow, requires a user to be malicious and have technical knowledge so I would consider it a less likely issue, but it is a big threat because it can wipe an entire database.</a:t>
            </a:r>
          </a:p>
          <a:p>
            <a:pPr marL="0" lvl="0" indent="0" algn="l" rtl="0">
              <a:lnSpc>
                <a:spcPct val="100000"/>
              </a:lnSpc>
              <a:spcBef>
                <a:spcPts val="0"/>
              </a:spcBef>
              <a:spcAft>
                <a:spcPts val="0"/>
              </a:spcAft>
              <a:buSzPts val="1100"/>
              <a:buNone/>
            </a:pPr>
            <a:r>
              <a:rPr lang="en-US" dirty="0"/>
              <a:t>Privilege abuse is bad behavior from high ranking users (for example, admins). This is less likely, but incredibly threatening.</a:t>
            </a: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My principles are as follows: validate data, heed compiler warnings, architect and design for security policies, keep it simple, default deny, least privilege, sanitize data, defense in depth, effective quality assurance, and a secure coding standard. Each of these principles has one or more coding standards associated with it, as shown here. </a:t>
            </a: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Here are my ten standards in priority order, from highest to lowest priority. Minimizing SQL injection risk, preventing overflow, exception handling, using std::string, comments, avoiding repetitive code, using integers correctly, using practical names for variables and functions, using accurate names for Booleans, and using assertions in unit tests.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To rank these, I ranked them from very unlikely to high for likelihood, low to high for cost, and low to high for priority. From there, I assigned a number from 1 as the highest severity to 5 as the lowest severity, based on the combination of those factors. My assessment of likelihood, cost, and priority are in the report.</a:t>
            </a: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Encrypt sensitive information before it enters the database. Encryption at rest is encryption of any data that isn’t currently in use- so data in the database. Passwords, emails, et cetera should be encrypted because they’re personal information. If there is a data breach, hackers will need to attempt decryption of the data to access it.</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Encrypt sensitive information as it travels from the database to the user, or from the user to the database. Encryption in flight is encryption of moving data. While data is traveling between the system and the user it should remain encrypted. For example, a user’s information should remain encrypted when traveling through the network. This ensures that the data is not intercepted.</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Data should remain encrypted while it’s in use, and should be encrypted when it’s entered. Encryption in use is encryption of any data that’s currently being processed. For example, when comparing the entered password to the stored password to confirm a user can log in, both the entered password and stored password should remain encrypted. This prevents users from accessing data they shouldn’t.</a:t>
            </a: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Authentication. </a:t>
            </a:r>
            <a:r>
              <a:rPr lang="en-US" sz="1100" b="0" i="0" u="none" strike="noStrike" cap="none" dirty="0">
                <a:solidFill>
                  <a:srgbClr val="000000"/>
                </a:solidFill>
                <a:effectLst/>
                <a:latin typeface="Arial"/>
                <a:ea typeface="Arial"/>
                <a:cs typeface="Arial"/>
                <a:sym typeface="Arial"/>
              </a:rPr>
              <a:t>Users should have usernames, passwords, and additional security (such as PINs or 2 factor authentication), and should be able to create accounts if they don’t already have one. Administrators should also have usernames, passwords, and additional security. Authentication ensures that a user’s information is stored, so that their account and activity is associated with them. This is important for any application that requires specific people to be identified. For example, browsing on Wikipedia doesn’t require user authentication, but editing a Wikipedia page does, because Wikipedia may need to ban people who make offensive and inaccurate edits.</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cs typeface="Arial"/>
                <a:sym typeface="Arial"/>
              </a:rPr>
              <a:t>Authorization. </a:t>
            </a:r>
            <a:r>
              <a:rPr lang="en-US" sz="1100" b="0" i="0" u="none" strike="noStrike" cap="none" dirty="0">
                <a:solidFill>
                  <a:srgbClr val="000000"/>
                </a:solidFill>
                <a:effectLst/>
                <a:latin typeface="Arial"/>
                <a:ea typeface="Arial"/>
                <a:cs typeface="Arial"/>
                <a:sym typeface="Arial"/>
              </a:rPr>
              <a:t>The principle of least privilege should be applied when enabling permissions for users. For example, a basic user should not be able to access or change the account information of other users. Users should have roles in accordance with the least amount of privileges that they need to fulfill their specific User Stories.</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cs typeface="Arial"/>
                <a:sym typeface="Arial"/>
              </a:rPr>
              <a:t>Accounting. </a:t>
            </a:r>
            <a:r>
              <a:rPr lang="en-US" sz="1100" b="0" i="0" u="none" strike="noStrike" cap="none" dirty="0">
                <a:solidFill>
                  <a:srgbClr val="000000"/>
                </a:solidFill>
                <a:effectLst/>
                <a:latin typeface="Arial"/>
                <a:ea typeface="Arial"/>
                <a:cs typeface="Arial"/>
                <a:sym typeface="Arial"/>
              </a:rPr>
              <a:t>User data should be tracked so that administrators can remove or restrict users that are not behaving appropriately. Data collection should be limited to what is strictly necessary for the application’s functionality and moderation. Accounting is the tracking of relevant user data, and this is important for any application that wants to ensure that users aren’t abusing the application.</a:t>
            </a: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 following slides have example Google Tests. Google Tests are perfect for testing the typical cases and edge cases of a function, covering as many scenarios as reasonably possible. Google Tests should be written for every function, and the application should be as close to 100% test coverage as possible. No common or hazardous scenarios should be left out of testing. </a:t>
            </a:r>
          </a:p>
          <a:p>
            <a:pPr marL="0" lvl="0" indent="0" algn="l" rtl="0">
              <a:lnSpc>
                <a:spcPct val="100000"/>
              </a:lnSpc>
              <a:spcBef>
                <a:spcPts val="0"/>
              </a:spcBef>
              <a:spcAft>
                <a:spcPts val="0"/>
              </a:spcAft>
              <a:buSzPts val="1100"/>
              <a:buNone/>
            </a:pPr>
            <a:r>
              <a:rPr lang="en-US" dirty="0"/>
              <a:t>One enormous benefit of unit tests is that they only need to be written once, and they can be run quickly afterward as many times as needed. This way, developers do not need to manually test if everything still works after making a tweak to the code, the Google Tests will tell them.</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This test verifies that an exception is thrown when an index is out of bounds in a collection.</a:t>
            </a:r>
          </a:p>
        </p:txBody>
      </p:sp>
    </p:spTree>
    <p:extLst>
      <p:ext uri="{BB962C8B-B14F-4D97-AF65-F5344CB8AC3E}">
        <p14:creationId xmlns:p14="http://schemas.microsoft.com/office/powerpoint/2010/main" val="1099172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tests that a collection can be populated and then erased.</a:t>
            </a:r>
          </a:p>
        </p:txBody>
      </p:sp>
    </p:spTree>
    <p:extLst>
      <p:ext uri="{BB962C8B-B14F-4D97-AF65-F5344CB8AC3E}">
        <p14:creationId xmlns:p14="http://schemas.microsoft.com/office/powerpoint/2010/main" val="171956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Here is an example of the Google Test output. You can see a list of tests and whether they passed, and the number of tests passed. As you can see, all of the tests are run at once, and in this case, the result was instantaneous. </a:t>
            </a:r>
          </a:p>
        </p:txBody>
      </p:sp>
    </p:spTree>
    <p:extLst>
      <p:ext uri="{BB962C8B-B14F-4D97-AF65-F5344CB8AC3E}">
        <p14:creationId xmlns:p14="http://schemas.microsoft.com/office/powerpoint/2010/main" val="4044392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Testing will occur throughout the displayed </a:t>
            </a:r>
            <a:r>
              <a:rPr lang="en-US" dirty="0" err="1"/>
              <a:t>DevSecOps</a:t>
            </a:r>
            <a:r>
              <a:rPr lang="en-US" dirty="0"/>
              <a:t> process. I would not recommend using automation (artificial intelligence) during the assess and plan and design phases, as AI can hallucinate and produce unwanted results. While coding, human reviewers need to thoroughly test all AI code. The code will compile many times during the Build stage- IDEs such as Visual Studio have built in compilers that developers will use while coding before they do formal tests. During the verify and test phase, there may be unit testing, systems testing, et cetera. The transition and health check phase includes deployment, where a tool like Jenkins could be used to sanity check the code right before it goes to production. Monitor and detect is all automated- the collection of logs is automated, event alerting is automated, and intrusion detection is automated. Responses can be semi automated, but humans will need to decide what response is appropriate for what scenario. Maintaining and stabilizing can look like returning to a sane build, which can be done through GitHub.</a:t>
            </a:r>
          </a:p>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Tech debt for security accumulates incredibly fast. For my style recommendations, there very well may be tech debt already. Uncommented code is tech debt, for example, and not every developer remembers to comment their code. The more you delay, the more difficult it will be to patch issues down the line.</a:t>
            </a:r>
          </a:p>
          <a:p>
            <a:pPr marL="0" lvl="0" indent="0" algn="l" rtl="0">
              <a:lnSpc>
                <a:spcPct val="100000"/>
              </a:lnSpc>
              <a:spcBef>
                <a:spcPts val="0"/>
              </a:spcBef>
              <a:spcAft>
                <a:spcPts val="0"/>
              </a:spcAft>
              <a:buSzPts val="1100"/>
              <a:buNone/>
            </a:pPr>
            <a:r>
              <a:rPr lang="en-US" dirty="0"/>
              <a:t>Thorough security requires thorough coding. Patience is required to ensure that developers properly test all their code before it hits production. Sometimes this may mean delays, especially if management around a project does not understand how long a user story will take.</a:t>
            </a:r>
          </a:p>
          <a:p>
            <a:pPr marL="0" lvl="0" indent="0" algn="l" rtl="0">
              <a:lnSpc>
                <a:spcPct val="100000"/>
              </a:lnSpc>
              <a:spcBef>
                <a:spcPts val="0"/>
              </a:spcBef>
              <a:spcAft>
                <a:spcPts val="0"/>
              </a:spcAft>
              <a:buSzPts val="1100"/>
              <a:buNone/>
            </a:pPr>
            <a:r>
              <a:rPr lang="en-US" dirty="0"/>
              <a:t>If code is tested well and often, there will be less vulnerabilities down the line, which could potentially save the company thousands of dollars and an enormous amount of trust.</a:t>
            </a:r>
          </a:p>
          <a:p>
            <a:pPr marL="0" lvl="0" indent="0" algn="l" rtl="0">
              <a:lnSpc>
                <a:spcPct val="100000"/>
              </a:lnSpc>
              <a:spcBef>
                <a:spcPts val="0"/>
              </a:spcBef>
              <a:spcAft>
                <a:spcPts val="0"/>
              </a:spcAft>
              <a:buSzPts val="1100"/>
              <a:buNone/>
            </a:pPr>
            <a:r>
              <a:rPr lang="en-US" dirty="0"/>
              <a:t>My policy recommends Jenkins, Google Test, and </a:t>
            </a:r>
            <a:r>
              <a:rPr lang="en-US" dirty="0" err="1"/>
              <a:t>Cppcheck</a:t>
            </a:r>
            <a:r>
              <a:rPr lang="en-US" dirty="0"/>
              <a:t>. Other tools may be more appropriate if the organization has a very specific coding standard, or if automation in other areas is desired.</a:t>
            </a:r>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This policy has some gaps. As stated previously, some tweaks may need to be made to the policy’s software recommendations to align with the organization’s specific interests.</a:t>
            </a:r>
          </a:p>
          <a:p>
            <a:pPr marL="0" lvl="0" indent="0" algn="l" rtl="0">
              <a:lnSpc>
                <a:spcPct val="100000"/>
              </a:lnSpc>
              <a:spcBef>
                <a:spcPts val="0"/>
              </a:spcBef>
              <a:spcAft>
                <a:spcPts val="0"/>
              </a:spcAft>
              <a:buSzPts val="1100"/>
              <a:buNone/>
            </a:pPr>
            <a:r>
              <a:rPr lang="en-US" dirty="0"/>
              <a:t>The policy does not go into detail on the amount of unit test coverage needed, unit test naming guidelines, et cetera. The only standard set is that assertions need to be used within them. This policy is broad- it may be good to create a policy entirely for testing.</a:t>
            </a:r>
          </a:p>
          <a:p>
            <a:pPr marL="0" lvl="0" indent="0" algn="l" rtl="0">
              <a:lnSpc>
                <a:spcPct val="100000"/>
              </a:lnSpc>
              <a:spcBef>
                <a:spcPts val="0"/>
              </a:spcBef>
              <a:spcAft>
                <a:spcPts val="0"/>
              </a:spcAft>
              <a:buSzPts val="1100"/>
              <a:buNone/>
            </a:pPr>
            <a:r>
              <a:rPr lang="en-US" dirty="0"/>
              <a:t>The threats this policy addresses are non exhaustive. There could be phishing attempts through email in the organization, and you could deal with malicious employees and malicious users, for example. The Triple-A policy should always be heeded so that other threats won’t be a problem.</a:t>
            </a: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So, here are some additional recommendations.</a:t>
            </a:r>
          </a:p>
          <a:p>
            <a:pPr marL="0" lvl="0" indent="0" algn="l" rtl="0">
              <a:lnSpc>
                <a:spcPct val="100000"/>
              </a:lnSpc>
              <a:spcBef>
                <a:spcPts val="0"/>
              </a:spcBef>
              <a:spcAft>
                <a:spcPts val="0"/>
              </a:spcAft>
              <a:buSzPts val="1100"/>
              <a:buNone/>
            </a:pPr>
            <a:r>
              <a:rPr lang="en-US" dirty="0"/>
              <a:t>As I stated, it may be appropriate to have a report exclusively for unit testing so that every test follows very strict style guidelines, and developers know how much coverage is required.</a:t>
            </a:r>
          </a:p>
          <a:p>
            <a:pPr marL="0" lvl="0" indent="0" algn="l" rtl="0">
              <a:lnSpc>
                <a:spcPct val="100000"/>
              </a:lnSpc>
              <a:spcBef>
                <a:spcPts val="0"/>
              </a:spcBef>
              <a:spcAft>
                <a:spcPts val="0"/>
              </a:spcAft>
              <a:buSzPts val="1100"/>
              <a:buNone/>
            </a:pPr>
            <a:r>
              <a:rPr lang="en-US" dirty="0"/>
              <a:t>Every employee for Green Pace should be security trained and there should be guardrails so that there are less internal threats, purposeful or not.</a:t>
            </a:r>
          </a:p>
          <a:p>
            <a:pPr marL="0" lvl="0" indent="0" algn="l" rtl="0">
              <a:lnSpc>
                <a:spcPct val="100000"/>
              </a:lnSpc>
              <a:spcBef>
                <a:spcPts val="0"/>
              </a:spcBef>
              <a:spcAft>
                <a:spcPts val="0"/>
              </a:spcAft>
              <a:buSzPts val="1100"/>
              <a:buNone/>
            </a:pPr>
            <a:r>
              <a:rPr lang="en-US" dirty="0"/>
              <a:t>It’s important to stay in the loop about what other companies are experiencing, so that Green Pace can ensure that we don’t have the same vulnerabilities.</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And here are </a:t>
            </a:r>
            <a:r>
              <a:rPr lang="en-US"/>
              <a:t>my references.</a:t>
            </a: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hyperlink" Target="https://optro.ai/blog/what-is-a-risk-assessment-matrix" TargetMode="External"/><Relationship Id="rId4" Type="http://schemas.openxmlformats.org/officeDocument/2006/relationships/hyperlink" Target="https://www.fortinet.com/resources/cyberglossary/aaa-secur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Eleanor Shamble</a:t>
            </a: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id="161" name="Google Shape;161;p4" descr="Alt text required"/>
          <p:cNvGraphicFramePr/>
          <p:nvPr>
            <p:extLst>
              <p:ext uri="{D42A27DB-BD31-4B8C-83A1-F6EECF244321}">
                <p14:modId xmlns:p14="http://schemas.microsoft.com/office/powerpoint/2010/main" val="1413759317"/>
              </p:ext>
            </p:extLst>
          </p:nvPr>
        </p:nvGraphicFramePr>
        <p:xfrm>
          <a:off x="3171900" y="2561050"/>
          <a:ext cx="7835225" cy="359809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Code Styling Issues</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Overflow</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SQL Injection</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Overflow</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Privilege Abuse</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Code Styling Issues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Privilege Abuse</a:t>
                      </a:r>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SQL Injection</a:t>
                      </a:r>
                      <a:endParaRPr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4" name="Table 3">
            <a:extLst>
              <a:ext uri="{FF2B5EF4-FFF2-40B4-BE49-F238E27FC236}">
                <a16:creationId xmlns:a16="http://schemas.microsoft.com/office/drawing/2014/main" id="{A440C367-F2CA-2ED6-39E9-91689DDE74D0}"/>
              </a:ext>
            </a:extLst>
          </p:cNvPr>
          <p:cNvGraphicFramePr>
            <a:graphicFrameLocks noGrp="1"/>
          </p:cNvGraphicFramePr>
          <p:nvPr>
            <p:extLst>
              <p:ext uri="{D42A27DB-BD31-4B8C-83A1-F6EECF244321}">
                <p14:modId xmlns:p14="http://schemas.microsoft.com/office/powerpoint/2010/main" val="3172412356"/>
              </p:ext>
            </p:extLst>
          </p:nvPr>
        </p:nvGraphicFramePr>
        <p:xfrm>
          <a:off x="2032000" y="1715234"/>
          <a:ext cx="8128000" cy="5095240"/>
        </p:xfrm>
        <a:graphic>
          <a:graphicData uri="http://schemas.openxmlformats.org/drawingml/2006/table">
            <a:tbl>
              <a:tblPr firstRow="1" bandRow="1">
                <a:tableStyleId>{775DCB02-9BB8-47FD-8907-85C794F793BA}</a:tableStyleId>
              </a:tblPr>
              <a:tblGrid>
                <a:gridCol w="4064000">
                  <a:extLst>
                    <a:ext uri="{9D8B030D-6E8A-4147-A177-3AD203B41FA5}">
                      <a16:colId xmlns:a16="http://schemas.microsoft.com/office/drawing/2014/main" val="2999333320"/>
                    </a:ext>
                  </a:extLst>
                </a:gridCol>
                <a:gridCol w="4064000">
                  <a:extLst>
                    <a:ext uri="{9D8B030D-6E8A-4147-A177-3AD203B41FA5}">
                      <a16:colId xmlns:a16="http://schemas.microsoft.com/office/drawing/2014/main" val="261008283"/>
                    </a:ext>
                  </a:extLst>
                </a:gridCol>
              </a:tblGrid>
              <a:tr h="370840">
                <a:tc>
                  <a:txBody>
                    <a:bodyPr/>
                    <a:lstStyle/>
                    <a:p>
                      <a:r>
                        <a:rPr lang="en-US" dirty="0"/>
                        <a:t>Principle</a:t>
                      </a:r>
                    </a:p>
                  </a:txBody>
                  <a:tcPr/>
                </a:tc>
                <a:tc>
                  <a:txBody>
                    <a:bodyPr/>
                    <a:lstStyle/>
                    <a:p>
                      <a:r>
                        <a:rPr lang="en-US" dirty="0"/>
                        <a:t>Coding Standards</a:t>
                      </a:r>
                    </a:p>
                  </a:txBody>
                  <a:tcPr/>
                </a:tc>
                <a:extLst>
                  <a:ext uri="{0D108BD9-81ED-4DB2-BD59-A6C34878D82A}">
                    <a16:rowId xmlns:a16="http://schemas.microsoft.com/office/drawing/2014/main" val="434845852"/>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Validate</a:t>
                      </a:r>
                      <a:r>
                        <a:rPr lang="en-US" sz="1400" b="1" dirty="0">
                          <a:solidFill>
                            <a:srgbClr val="000000"/>
                          </a:solidFill>
                          <a:effectLst/>
                          <a:latin typeface="+mj-lt"/>
                          <a:ea typeface="Calibri" panose="020F0502020204030204" pitchFamily="34" charset="0"/>
                        </a:rPr>
                        <a:t> </a:t>
                      </a:r>
                      <a:r>
                        <a:rPr lang="en-US" sz="1400" dirty="0">
                          <a:solidFill>
                            <a:srgbClr val="000000"/>
                          </a:solidFill>
                          <a:effectLst/>
                          <a:latin typeface="+mj-lt"/>
                          <a:ea typeface="Calibri" panose="020F0502020204030204" pitchFamily="34" charset="0"/>
                        </a:rPr>
                        <a:t>Data</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STD-004-INJ, STD-005-MRY, STD-003-STR, STD-001-DTY</a:t>
                      </a:r>
                      <a:endParaRPr lang="en-US" dirty="0"/>
                    </a:p>
                  </a:txBody>
                  <a:tcPr/>
                </a:tc>
                <a:extLst>
                  <a:ext uri="{0D108BD9-81ED-4DB2-BD59-A6C34878D82A}">
                    <a16:rowId xmlns:a16="http://schemas.microsoft.com/office/drawing/2014/main" val="753388117"/>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Heed Compiler Warnings</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STD-005-MRY, STD-007-ESC, STD-009-RDN</a:t>
                      </a:r>
                      <a:endParaRPr lang="en-US" dirty="0"/>
                    </a:p>
                  </a:txBody>
                  <a:tcPr/>
                </a:tc>
                <a:extLst>
                  <a:ext uri="{0D108BD9-81ED-4DB2-BD59-A6C34878D82A}">
                    <a16:rowId xmlns:a16="http://schemas.microsoft.com/office/drawing/2014/main" val="114993359"/>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Architect and Design for Security Policies</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STD-004-INJ, STD-005-MRY, STD-003-STR, STD-008-COM</a:t>
                      </a:r>
                      <a:endParaRPr lang="en-US" dirty="0"/>
                    </a:p>
                  </a:txBody>
                  <a:tcPr/>
                </a:tc>
                <a:extLst>
                  <a:ext uri="{0D108BD9-81ED-4DB2-BD59-A6C34878D82A}">
                    <a16:rowId xmlns:a16="http://schemas.microsoft.com/office/drawing/2014/main" val="2396558950"/>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Keep It Simple</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STD-003-STR, STD-009-RDN, STD-010-NAM, STD-002-DTV, STD-006-ASR</a:t>
                      </a:r>
                      <a:endParaRPr lang="en-US" dirty="0"/>
                    </a:p>
                  </a:txBody>
                  <a:tcPr/>
                </a:tc>
                <a:extLst>
                  <a:ext uri="{0D108BD9-81ED-4DB2-BD59-A6C34878D82A}">
                    <a16:rowId xmlns:a16="http://schemas.microsoft.com/office/drawing/2014/main" val="2739212229"/>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Default Deny</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STD-004-INJ</a:t>
                      </a:r>
                      <a:endParaRPr lang="en-US" dirty="0"/>
                    </a:p>
                  </a:txBody>
                  <a:tcPr/>
                </a:tc>
                <a:extLst>
                  <a:ext uri="{0D108BD9-81ED-4DB2-BD59-A6C34878D82A}">
                    <a16:rowId xmlns:a16="http://schemas.microsoft.com/office/drawing/2014/main" val="1669670977"/>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Adhere to the Principle of Least Privilege</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STD-004-INJ</a:t>
                      </a:r>
                      <a:endParaRPr lang="en-US" dirty="0"/>
                    </a:p>
                  </a:txBody>
                  <a:tcPr/>
                </a:tc>
                <a:extLst>
                  <a:ext uri="{0D108BD9-81ED-4DB2-BD59-A6C34878D82A}">
                    <a16:rowId xmlns:a16="http://schemas.microsoft.com/office/drawing/2014/main" val="141981980"/>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Sanitize Data Sent to Other Systems</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STD-004-INJ, STD-005-MRY, STD-003-STR</a:t>
                      </a:r>
                      <a:endParaRPr lang="en-US" dirty="0"/>
                    </a:p>
                  </a:txBody>
                  <a:tcPr/>
                </a:tc>
                <a:extLst>
                  <a:ext uri="{0D108BD9-81ED-4DB2-BD59-A6C34878D82A}">
                    <a16:rowId xmlns:a16="http://schemas.microsoft.com/office/drawing/2014/main" val="3090275336"/>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Practice Defense in Depth </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STD-004-INJ</a:t>
                      </a:r>
                      <a:endParaRPr lang="en-US" dirty="0"/>
                    </a:p>
                  </a:txBody>
                  <a:tcPr/>
                </a:tc>
                <a:extLst>
                  <a:ext uri="{0D108BD9-81ED-4DB2-BD59-A6C34878D82A}">
                    <a16:rowId xmlns:a16="http://schemas.microsoft.com/office/drawing/2014/main" val="389455969"/>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Use Effective Quality Assurance Techniques</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STD-006-ASR</a:t>
                      </a:r>
                      <a:endParaRPr lang="en-US" dirty="0"/>
                    </a:p>
                  </a:txBody>
                  <a:tcPr/>
                </a:tc>
                <a:extLst>
                  <a:ext uri="{0D108BD9-81ED-4DB2-BD59-A6C34878D82A}">
                    <a16:rowId xmlns:a16="http://schemas.microsoft.com/office/drawing/2014/main" val="2393700931"/>
                  </a:ext>
                </a:extLst>
              </a:tr>
              <a:tr h="370840">
                <a:tc>
                  <a:txBody>
                    <a:bodyPr/>
                    <a:lstStyle/>
                    <a:p>
                      <a:pPr marL="0" marR="0" lvl="0" indent="0">
                        <a:buFont typeface="+mj-lt"/>
                        <a:buNone/>
                      </a:pPr>
                      <a:r>
                        <a:rPr lang="en-US" sz="1400" dirty="0">
                          <a:solidFill>
                            <a:srgbClr val="000000"/>
                          </a:solidFill>
                          <a:effectLst/>
                          <a:latin typeface="+mj-lt"/>
                          <a:ea typeface="Calibri" panose="020F0502020204030204" pitchFamily="34" charset="0"/>
                        </a:rPr>
                        <a:t>Adopt a Secure Coding Standard</a:t>
                      </a:r>
                      <a:endParaRPr lang="en-US" sz="1400" dirty="0">
                        <a:effectLst/>
                        <a:latin typeface="+mj-lt"/>
                        <a:ea typeface="Calibri" panose="020F0502020204030204" pitchFamily="34"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dk1"/>
                          </a:solidFill>
                          <a:effectLst/>
                          <a:latin typeface="+mn-lt"/>
                          <a:ea typeface="+mn-ea"/>
                          <a:cs typeface="+mn-cs"/>
                          <a:sym typeface="Arial"/>
                        </a:rPr>
                        <a:t>STD-004-INJ, STD-005-MRY, STD-007-ESC, STD-003-STR, STD-008-COM, STD-009-RDN, STD-001-DTY, STD-010-NAM, STD-002-DTV, STD-006-ASR</a:t>
                      </a:r>
                      <a:endParaRPr lang="en-US" dirty="0"/>
                    </a:p>
                  </a:txBody>
                  <a:tcPr/>
                </a:tc>
                <a:extLst>
                  <a:ext uri="{0D108BD9-81ED-4DB2-BD59-A6C34878D82A}">
                    <a16:rowId xmlns:a16="http://schemas.microsoft.com/office/drawing/2014/main" val="3256077887"/>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5" name="Table 4">
            <a:extLst>
              <a:ext uri="{FF2B5EF4-FFF2-40B4-BE49-F238E27FC236}">
                <a16:creationId xmlns:a16="http://schemas.microsoft.com/office/drawing/2014/main" id="{14132A05-D79D-A5EF-556F-1AC4858C216C}"/>
              </a:ext>
            </a:extLst>
          </p:cNvPr>
          <p:cNvGraphicFramePr>
            <a:graphicFrameLocks noGrp="1"/>
          </p:cNvGraphicFramePr>
          <p:nvPr>
            <p:extLst>
              <p:ext uri="{D42A27DB-BD31-4B8C-83A1-F6EECF244321}">
                <p14:modId xmlns:p14="http://schemas.microsoft.com/office/powerpoint/2010/main" val="1451410496"/>
              </p:ext>
            </p:extLst>
          </p:nvPr>
        </p:nvGraphicFramePr>
        <p:xfrm>
          <a:off x="2032000" y="2167002"/>
          <a:ext cx="8127999" cy="4079240"/>
        </p:xfrm>
        <a:graphic>
          <a:graphicData uri="http://schemas.openxmlformats.org/drawingml/2006/table">
            <a:tbl>
              <a:tblPr firstRow="1" bandRow="1">
                <a:tableStyleId>{3C2FFA5D-87B4-456A-9821-1D502468CF0F}</a:tableStyleId>
              </a:tblPr>
              <a:tblGrid>
                <a:gridCol w="1536700">
                  <a:extLst>
                    <a:ext uri="{9D8B030D-6E8A-4147-A177-3AD203B41FA5}">
                      <a16:colId xmlns:a16="http://schemas.microsoft.com/office/drawing/2014/main" val="715015152"/>
                    </a:ext>
                  </a:extLst>
                </a:gridCol>
                <a:gridCol w="5156200">
                  <a:extLst>
                    <a:ext uri="{9D8B030D-6E8A-4147-A177-3AD203B41FA5}">
                      <a16:colId xmlns:a16="http://schemas.microsoft.com/office/drawing/2014/main" val="2161603217"/>
                    </a:ext>
                  </a:extLst>
                </a:gridCol>
                <a:gridCol w="1435099">
                  <a:extLst>
                    <a:ext uri="{9D8B030D-6E8A-4147-A177-3AD203B41FA5}">
                      <a16:colId xmlns:a16="http://schemas.microsoft.com/office/drawing/2014/main" val="3747083011"/>
                    </a:ext>
                  </a:extLst>
                </a:gridCol>
              </a:tblGrid>
              <a:tr h="370840">
                <a:tc>
                  <a:txBody>
                    <a:bodyPr/>
                    <a:lstStyle/>
                    <a:p>
                      <a:r>
                        <a:rPr lang="en-US" dirty="0"/>
                        <a:t>Number</a:t>
                      </a:r>
                    </a:p>
                  </a:txBody>
                  <a:tcPr/>
                </a:tc>
                <a:tc>
                  <a:txBody>
                    <a:bodyPr/>
                    <a:lstStyle/>
                    <a:p>
                      <a:r>
                        <a:rPr lang="en-US" dirty="0"/>
                        <a:t>Name</a:t>
                      </a:r>
                    </a:p>
                  </a:txBody>
                  <a:tcPr/>
                </a:tc>
                <a:tc>
                  <a:txBody>
                    <a:bodyPr/>
                    <a:lstStyle/>
                    <a:p>
                      <a:r>
                        <a:rPr lang="en-US" dirty="0"/>
                        <a:t>Severity</a:t>
                      </a:r>
                    </a:p>
                  </a:txBody>
                  <a:tcPr/>
                </a:tc>
                <a:extLst>
                  <a:ext uri="{0D108BD9-81ED-4DB2-BD59-A6C34878D82A}">
                    <a16:rowId xmlns:a16="http://schemas.microsoft.com/office/drawing/2014/main" val="3718268849"/>
                  </a:ext>
                </a:extLst>
              </a:tr>
              <a:tr h="370840">
                <a:tc>
                  <a:txBody>
                    <a:bodyPr/>
                    <a:lstStyle/>
                    <a:p>
                      <a:r>
                        <a:rPr lang="en-US" sz="1400" b="0" i="0" u="none" strike="noStrike" cap="none" dirty="0">
                          <a:solidFill>
                            <a:schemeClr val="dk1"/>
                          </a:solidFill>
                          <a:effectLst/>
                          <a:latin typeface="+mn-lt"/>
                          <a:ea typeface="+mn-ea"/>
                          <a:cs typeface="+mn-cs"/>
                          <a:sym typeface="Arial"/>
                        </a:rPr>
                        <a:t>STD-004-INJ</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Minimize the risk of SQL Injection in user input.</a:t>
                      </a:r>
                      <a:endParaRPr lang="en-US" dirty="0"/>
                    </a:p>
                  </a:txBody>
                  <a:tcPr/>
                </a:tc>
                <a:tc>
                  <a:txBody>
                    <a:bodyPr/>
                    <a:lstStyle/>
                    <a:p>
                      <a:r>
                        <a:rPr lang="en-US" dirty="0"/>
                        <a:t>1</a:t>
                      </a:r>
                    </a:p>
                  </a:txBody>
                  <a:tcPr/>
                </a:tc>
                <a:extLst>
                  <a:ext uri="{0D108BD9-81ED-4DB2-BD59-A6C34878D82A}">
                    <a16:rowId xmlns:a16="http://schemas.microsoft.com/office/drawing/2014/main" val="2746853151"/>
                  </a:ext>
                </a:extLst>
              </a:tr>
              <a:tr h="370840">
                <a:tc>
                  <a:txBody>
                    <a:bodyPr/>
                    <a:lstStyle/>
                    <a:p>
                      <a:r>
                        <a:rPr lang="en-US" sz="1400" b="0" i="0" u="none" strike="noStrike" cap="none" dirty="0">
                          <a:solidFill>
                            <a:schemeClr val="dk1"/>
                          </a:solidFill>
                          <a:effectLst/>
                          <a:latin typeface="+mn-lt"/>
                          <a:ea typeface="+mn-ea"/>
                          <a:cs typeface="+mn-cs"/>
                          <a:sym typeface="Arial"/>
                        </a:rPr>
                        <a:t>STD-005-MRY</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Ensure that your code does not trigger overflow.</a:t>
                      </a:r>
                      <a:endParaRPr lang="en-US" dirty="0"/>
                    </a:p>
                  </a:txBody>
                  <a:tcPr/>
                </a:tc>
                <a:tc>
                  <a:txBody>
                    <a:bodyPr/>
                    <a:lstStyle/>
                    <a:p>
                      <a:r>
                        <a:rPr lang="en-US" dirty="0"/>
                        <a:t>1</a:t>
                      </a:r>
                    </a:p>
                  </a:txBody>
                  <a:tcPr/>
                </a:tc>
                <a:extLst>
                  <a:ext uri="{0D108BD9-81ED-4DB2-BD59-A6C34878D82A}">
                    <a16:rowId xmlns:a16="http://schemas.microsoft.com/office/drawing/2014/main" val="828252960"/>
                  </a:ext>
                </a:extLst>
              </a:tr>
              <a:tr h="370840">
                <a:tc>
                  <a:txBody>
                    <a:bodyPr/>
                    <a:lstStyle/>
                    <a:p>
                      <a:r>
                        <a:rPr lang="en-US" sz="1400" b="0" i="0" u="none" strike="noStrike" cap="none" dirty="0">
                          <a:solidFill>
                            <a:schemeClr val="dk1"/>
                          </a:solidFill>
                          <a:effectLst/>
                          <a:latin typeface="+mn-lt"/>
                          <a:ea typeface="+mn-ea"/>
                          <a:cs typeface="+mn-cs"/>
                          <a:sym typeface="Arial"/>
                        </a:rPr>
                        <a:t>STD-007-ESC</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Ensure that your code has exception handling.</a:t>
                      </a:r>
                      <a:endParaRPr lang="en-US" dirty="0"/>
                    </a:p>
                  </a:txBody>
                  <a:tcPr/>
                </a:tc>
                <a:tc>
                  <a:txBody>
                    <a:bodyPr/>
                    <a:lstStyle/>
                    <a:p>
                      <a:r>
                        <a:rPr lang="en-US" dirty="0"/>
                        <a:t>2</a:t>
                      </a:r>
                    </a:p>
                  </a:txBody>
                  <a:tcPr/>
                </a:tc>
                <a:extLst>
                  <a:ext uri="{0D108BD9-81ED-4DB2-BD59-A6C34878D82A}">
                    <a16:rowId xmlns:a16="http://schemas.microsoft.com/office/drawing/2014/main" val="707868337"/>
                  </a:ext>
                </a:extLst>
              </a:tr>
              <a:tr h="370840">
                <a:tc>
                  <a:txBody>
                    <a:bodyPr/>
                    <a:lstStyle/>
                    <a:p>
                      <a:r>
                        <a:rPr lang="en-US" sz="1400" b="0" i="0" u="none" strike="noStrike" cap="none" dirty="0">
                          <a:solidFill>
                            <a:schemeClr val="dk1"/>
                          </a:solidFill>
                          <a:effectLst/>
                          <a:latin typeface="+mn-lt"/>
                          <a:ea typeface="+mn-ea"/>
                          <a:cs typeface="+mn-cs"/>
                          <a:sym typeface="Arial"/>
                        </a:rPr>
                        <a:t>STD-003-STR</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Use std::string instead of char arrays.</a:t>
                      </a:r>
                      <a:endParaRPr lang="en-US" dirty="0"/>
                    </a:p>
                  </a:txBody>
                  <a:tcPr/>
                </a:tc>
                <a:tc>
                  <a:txBody>
                    <a:bodyPr/>
                    <a:lstStyle/>
                    <a:p>
                      <a:r>
                        <a:rPr lang="en-US" dirty="0"/>
                        <a:t>3</a:t>
                      </a:r>
                    </a:p>
                  </a:txBody>
                  <a:tcPr/>
                </a:tc>
                <a:extLst>
                  <a:ext uri="{0D108BD9-81ED-4DB2-BD59-A6C34878D82A}">
                    <a16:rowId xmlns:a16="http://schemas.microsoft.com/office/drawing/2014/main" val="5407229"/>
                  </a:ext>
                </a:extLst>
              </a:tr>
              <a:tr h="370840">
                <a:tc>
                  <a:txBody>
                    <a:bodyPr/>
                    <a:lstStyle/>
                    <a:p>
                      <a:r>
                        <a:rPr lang="en-US" sz="1400" b="0" i="0" u="none" strike="noStrike" cap="none" dirty="0">
                          <a:solidFill>
                            <a:schemeClr val="dk1"/>
                          </a:solidFill>
                          <a:effectLst/>
                          <a:latin typeface="+mn-lt"/>
                          <a:ea typeface="+mn-ea"/>
                          <a:cs typeface="+mn-cs"/>
                          <a:sym typeface="Arial"/>
                        </a:rPr>
                        <a:t>STD-008-COM</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Thoroughly comment your code.</a:t>
                      </a:r>
                      <a:endParaRPr lang="en-US" dirty="0"/>
                    </a:p>
                  </a:txBody>
                  <a:tcPr/>
                </a:tc>
                <a:tc>
                  <a:txBody>
                    <a:bodyPr/>
                    <a:lstStyle/>
                    <a:p>
                      <a:r>
                        <a:rPr lang="en-US" dirty="0"/>
                        <a:t>3</a:t>
                      </a:r>
                    </a:p>
                  </a:txBody>
                  <a:tcPr/>
                </a:tc>
                <a:extLst>
                  <a:ext uri="{0D108BD9-81ED-4DB2-BD59-A6C34878D82A}">
                    <a16:rowId xmlns:a16="http://schemas.microsoft.com/office/drawing/2014/main" val="54910217"/>
                  </a:ext>
                </a:extLst>
              </a:tr>
              <a:tr h="370840">
                <a:tc>
                  <a:txBody>
                    <a:bodyPr/>
                    <a:lstStyle/>
                    <a:p>
                      <a:r>
                        <a:rPr lang="en-US" sz="1400" b="0" i="0" u="none" strike="noStrike" cap="none" dirty="0">
                          <a:solidFill>
                            <a:schemeClr val="dk1"/>
                          </a:solidFill>
                          <a:effectLst/>
                          <a:latin typeface="+mn-lt"/>
                          <a:ea typeface="+mn-ea"/>
                          <a:cs typeface="+mn-cs"/>
                          <a:sym typeface="Arial"/>
                        </a:rPr>
                        <a:t>STD-009-RDN</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Avoid repetitive code.</a:t>
                      </a:r>
                      <a:endParaRPr lang="en-US" dirty="0"/>
                    </a:p>
                  </a:txBody>
                  <a:tcPr/>
                </a:tc>
                <a:tc>
                  <a:txBody>
                    <a:bodyPr/>
                    <a:lstStyle/>
                    <a:p>
                      <a:r>
                        <a:rPr lang="en-US" dirty="0"/>
                        <a:t>3</a:t>
                      </a:r>
                    </a:p>
                  </a:txBody>
                  <a:tcPr/>
                </a:tc>
                <a:extLst>
                  <a:ext uri="{0D108BD9-81ED-4DB2-BD59-A6C34878D82A}">
                    <a16:rowId xmlns:a16="http://schemas.microsoft.com/office/drawing/2014/main" val="1571306667"/>
                  </a:ext>
                </a:extLst>
              </a:tr>
              <a:tr h="370840">
                <a:tc>
                  <a:txBody>
                    <a:bodyPr/>
                    <a:lstStyle/>
                    <a:p>
                      <a:r>
                        <a:rPr lang="en-US" sz="1400" b="0" i="0" u="none" strike="noStrike" cap="none" dirty="0">
                          <a:solidFill>
                            <a:schemeClr val="dk1"/>
                          </a:solidFill>
                          <a:effectLst/>
                          <a:latin typeface="+mn-lt"/>
                          <a:ea typeface="+mn-ea"/>
                          <a:cs typeface="+mn-cs"/>
                          <a:sym typeface="Arial"/>
                        </a:rPr>
                        <a:t>STD-001-DTY</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Correct use of integers.</a:t>
                      </a:r>
                      <a:endParaRPr lang="en-US" dirty="0"/>
                    </a:p>
                  </a:txBody>
                  <a:tcPr/>
                </a:tc>
                <a:tc>
                  <a:txBody>
                    <a:bodyPr/>
                    <a:lstStyle/>
                    <a:p>
                      <a:r>
                        <a:rPr lang="en-US" dirty="0"/>
                        <a:t>4</a:t>
                      </a:r>
                    </a:p>
                  </a:txBody>
                  <a:tcPr/>
                </a:tc>
                <a:extLst>
                  <a:ext uri="{0D108BD9-81ED-4DB2-BD59-A6C34878D82A}">
                    <a16:rowId xmlns:a16="http://schemas.microsoft.com/office/drawing/2014/main" val="500891439"/>
                  </a:ext>
                </a:extLst>
              </a:tr>
              <a:tr h="370840">
                <a:tc>
                  <a:txBody>
                    <a:bodyPr/>
                    <a:lstStyle/>
                    <a:p>
                      <a:r>
                        <a:rPr lang="en-US" sz="1400" b="0" i="0" u="none" strike="noStrike" cap="none" dirty="0">
                          <a:solidFill>
                            <a:schemeClr val="dk1"/>
                          </a:solidFill>
                          <a:effectLst/>
                          <a:latin typeface="+mn-lt"/>
                          <a:ea typeface="+mn-ea"/>
                          <a:cs typeface="+mn-cs"/>
                          <a:sym typeface="Arial"/>
                        </a:rPr>
                        <a:t>STD-010-NAM</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Choose practical variable and function names. </a:t>
                      </a:r>
                      <a:endParaRPr lang="en-US" dirty="0"/>
                    </a:p>
                  </a:txBody>
                  <a:tcPr/>
                </a:tc>
                <a:tc>
                  <a:txBody>
                    <a:bodyPr/>
                    <a:lstStyle/>
                    <a:p>
                      <a:r>
                        <a:rPr lang="en-US" dirty="0"/>
                        <a:t>4</a:t>
                      </a:r>
                    </a:p>
                  </a:txBody>
                  <a:tcPr/>
                </a:tc>
                <a:extLst>
                  <a:ext uri="{0D108BD9-81ED-4DB2-BD59-A6C34878D82A}">
                    <a16:rowId xmlns:a16="http://schemas.microsoft.com/office/drawing/2014/main" val="2147087819"/>
                  </a:ext>
                </a:extLst>
              </a:tr>
              <a:tr h="370840">
                <a:tc>
                  <a:txBody>
                    <a:bodyPr/>
                    <a:lstStyle/>
                    <a:p>
                      <a:r>
                        <a:rPr lang="en-US" sz="1400" b="0" i="0" u="none" strike="noStrike" cap="none" dirty="0">
                          <a:solidFill>
                            <a:schemeClr val="dk1"/>
                          </a:solidFill>
                          <a:effectLst/>
                          <a:latin typeface="+mn-lt"/>
                          <a:ea typeface="+mn-ea"/>
                          <a:cs typeface="+mn-cs"/>
                          <a:sym typeface="Arial"/>
                        </a:rPr>
                        <a:t>STD-002-DTV</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Sensible bools.</a:t>
                      </a:r>
                      <a:endParaRPr lang="en-US" dirty="0"/>
                    </a:p>
                  </a:txBody>
                  <a:tcPr/>
                </a:tc>
                <a:tc>
                  <a:txBody>
                    <a:bodyPr/>
                    <a:lstStyle/>
                    <a:p>
                      <a:r>
                        <a:rPr lang="en-US" dirty="0"/>
                        <a:t>5</a:t>
                      </a:r>
                    </a:p>
                  </a:txBody>
                  <a:tcPr/>
                </a:tc>
                <a:extLst>
                  <a:ext uri="{0D108BD9-81ED-4DB2-BD59-A6C34878D82A}">
                    <a16:rowId xmlns:a16="http://schemas.microsoft.com/office/drawing/2014/main" val="4217684624"/>
                  </a:ext>
                </a:extLst>
              </a:tr>
              <a:tr h="370840">
                <a:tc>
                  <a:txBody>
                    <a:bodyPr/>
                    <a:lstStyle/>
                    <a:p>
                      <a:r>
                        <a:rPr lang="en-US" sz="1400" b="0" i="0" u="none" strike="noStrike" cap="none" dirty="0">
                          <a:solidFill>
                            <a:schemeClr val="dk1"/>
                          </a:solidFill>
                          <a:effectLst/>
                          <a:latin typeface="+mn-lt"/>
                          <a:ea typeface="+mn-ea"/>
                          <a:cs typeface="+mn-cs"/>
                          <a:sym typeface="Arial"/>
                        </a:rPr>
                        <a:t>STD-006-ASR</a:t>
                      </a:r>
                      <a:endParaRPr lang="en-US" dirty="0"/>
                    </a:p>
                  </a:txBody>
                  <a:tcPr/>
                </a:tc>
                <a:tc>
                  <a:txBody>
                    <a:bodyPr/>
                    <a:lstStyle/>
                    <a:p>
                      <a:r>
                        <a:rPr lang="en-US" sz="1400" b="0" i="0" u="none" strike="noStrike" cap="none" dirty="0">
                          <a:solidFill>
                            <a:schemeClr val="dk1"/>
                          </a:solidFill>
                          <a:effectLst/>
                          <a:latin typeface="+mn-lt"/>
                          <a:ea typeface="+mn-ea"/>
                          <a:cs typeface="+mn-cs"/>
                          <a:sym typeface="Arial"/>
                        </a:rPr>
                        <a:t>Use assertions instead of </a:t>
                      </a:r>
                      <a:r>
                        <a:rPr lang="en-US" sz="1400" b="0" i="0" u="none" strike="noStrike" cap="none" dirty="0" err="1">
                          <a:solidFill>
                            <a:schemeClr val="dk1"/>
                          </a:solidFill>
                          <a:effectLst/>
                          <a:latin typeface="+mn-lt"/>
                          <a:ea typeface="+mn-ea"/>
                          <a:cs typeface="+mn-cs"/>
                          <a:sym typeface="Arial"/>
                        </a:rPr>
                        <a:t>cout</a:t>
                      </a:r>
                      <a:r>
                        <a:rPr lang="en-US" sz="1400" b="0" i="0" u="none" strike="noStrike" cap="none" dirty="0">
                          <a:solidFill>
                            <a:schemeClr val="dk1"/>
                          </a:solidFill>
                          <a:effectLst/>
                          <a:latin typeface="+mn-lt"/>
                          <a:ea typeface="+mn-ea"/>
                          <a:cs typeface="+mn-cs"/>
                          <a:sym typeface="Arial"/>
                        </a:rPr>
                        <a:t> when debugging code.</a:t>
                      </a:r>
                      <a:endParaRPr lang="en-US" dirty="0"/>
                    </a:p>
                  </a:txBody>
                  <a:tcPr/>
                </a:tc>
                <a:tc>
                  <a:txBody>
                    <a:bodyPr/>
                    <a:lstStyle/>
                    <a:p>
                      <a:r>
                        <a:rPr lang="en-US" dirty="0"/>
                        <a:t>5</a:t>
                      </a:r>
                    </a:p>
                  </a:txBody>
                  <a:tcPr/>
                </a:tc>
                <a:extLst>
                  <a:ext uri="{0D108BD9-81ED-4DB2-BD59-A6C34878D82A}">
                    <a16:rowId xmlns:a16="http://schemas.microsoft.com/office/drawing/2014/main" val="3988660553"/>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sz="2000" dirty="0"/>
              <a:t>Encryption at rest - Encrypt sensitive information before it enters the database. </a:t>
            </a:r>
          </a:p>
          <a:p>
            <a:pPr marL="228600" lvl="0" indent="-228600">
              <a:spcBef>
                <a:spcPts val="0"/>
              </a:spcBef>
              <a:buSzPts val="2000"/>
            </a:pPr>
            <a:r>
              <a:rPr lang="en-US" sz="2000" dirty="0"/>
              <a:t>Encryption in flight - Encrypt sensitive information as it travels from the database to the user.</a:t>
            </a:r>
          </a:p>
          <a:p>
            <a:pPr marL="228600" lvl="0" indent="-228600">
              <a:spcBef>
                <a:spcPts val="0"/>
              </a:spcBef>
              <a:buSzPts val="2000"/>
            </a:pPr>
            <a:r>
              <a:rPr lang="en-US" sz="2000" dirty="0"/>
              <a:t>Encryption in use - Data should remain encrypted while it’s in use, and should be encrypted when it’s entered. </a:t>
            </a:r>
            <a:endParaRPr sz="2000" dirty="0"/>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2400" dirty="0"/>
              <a:t>Authentication – User/administrator account information. 2+FA.</a:t>
            </a:r>
          </a:p>
          <a:p>
            <a:pPr marL="228600" lvl="0" indent="-228600" algn="l" rtl="0">
              <a:lnSpc>
                <a:spcPct val="90000"/>
              </a:lnSpc>
              <a:spcBef>
                <a:spcPts val="0"/>
              </a:spcBef>
              <a:spcAft>
                <a:spcPts val="0"/>
              </a:spcAft>
              <a:buClr>
                <a:schemeClr val="lt1"/>
              </a:buClr>
              <a:buSzPts val="2400"/>
              <a:buChar char="•"/>
            </a:pPr>
            <a:r>
              <a:rPr lang="en-US" sz="2400" dirty="0"/>
              <a:t>Authorization – The principle of least privilege.</a:t>
            </a:r>
          </a:p>
          <a:p>
            <a:pPr marL="228600" lvl="0" indent="-228600" algn="l" rtl="0">
              <a:lnSpc>
                <a:spcPct val="90000"/>
              </a:lnSpc>
              <a:spcBef>
                <a:spcPts val="0"/>
              </a:spcBef>
              <a:spcAft>
                <a:spcPts val="0"/>
              </a:spcAft>
              <a:buClr>
                <a:schemeClr val="lt1"/>
              </a:buClr>
              <a:buSzPts val="2400"/>
              <a:buChar char="•"/>
            </a:pPr>
            <a:r>
              <a:rPr lang="en-US" sz="2400" dirty="0"/>
              <a:t>Accounting – Track user data. </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Google Test</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46B9-80A7-8539-A36B-57076D55C92A}"/>
              </a:ext>
            </a:extLst>
          </p:cNvPr>
          <p:cNvSpPr>
            <a:spLocks noGrp="1"/>
          </p:cNvSpPr>
          <p:nvPr>
            <p:ph type="title"/>
          </p:nvPr>
        </p:nvSpPr>
        <p:spPr/>
        <p:txBody>
          <a:bodyPr/>
          <a:lstStyle/>
          <a:p>
            <a:r>
              <a:rPr lang="en-US" dirty="0"/>
              <a:t>Exception Throwing</a:t>
            </a:r>
          </a:p>
        </p:txBody>
      </p:sp>
      <p:pic>
        <p:nvPicPr>
          <p:cNvPr id="7" name="Picture 6">
            <a:extLst>
              <a:ext uri="{FF2B5EF4-FFF2-40B4-BE49-F238E27FC236}">
                <a16:creationId xmlns:a16="http://schemas.microsoft.com/office/drawing/2014/main" id="{CFC6D6C5-4539-43EF-A035-EA0C2D6DAF0C}"/>
              </a:ext>
            </a:extLst>
          </p:cNvPr>
          <p:cNvPicPr>
            <a:picLocks noChangeAspect="1"/>
          </p:cNvPicPr>
          <p:nvPr/>
        </p:nvPicPr>
        <p:blipFill>
          <a:blip r:embed="rId3"/>
          <a:stretch>
            <a:fillRect/>
          </a:stretch>
        </p:blipFill>
        <p:spPr>
          <a:xfrm>
            <a:off x="439466" y="2483893"/>
            <a:ext cx="11313067" cy="3082225"/>
          </a:xfrm>
          <a:prstGeom prst="rect">
            <a:avLst/>
          </a:prstGeom>
        </p:spPr>
      </p:pic>
    </p:spTree>
    <p:extLst>
      <p:ext uri="{BB962C8B-B14F-4D97-AF65-F5344CB8AC3E}">
        <p14:creationId xmlns:p14="http://schemas.microsoft.com/office/powerpoint/2010/main" val="1981684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42BBB-C8A4-3B82-AE89-21778B8038E2}"/>
              </a:ext>
            </a:extLst>
          </p:cNvPr>
          <p:cNvSpPr>
            <a:spLocks noGrp="1"/>
          </p:cNvSpPr>
          <p:nvPr>
            <p:ph type="title"/>
          </p:nvPr>
        </p:nvSpPr>
        <p:spPr/>
        <p:txBody>
          <a:bodyPr/>
          <a:lstStyle/>
          <a:p>
            <a:r>
              <a:rPr lang="en-US" dirty="0"/>
              <a:t>Clear Erase</a:t>
            </a:r>
          </a:p>
        </p:txBody>
      </p:sp>
      <p:pic>
        <p:nvPicPr>
          <p:cNvPr id="5" name="Picture 4">
            <a:extLst>
              <a:ext uri="{FF2B5EF4-FFF2-40B4-BE49-F238E27FC236}">
                <a16:creationId xmlns:a16="http://schemas.microsoft.com/office/drawing/2014/main" id="{9466165F-E620-1011-C22B-37F76F64F00E}"/>
              </a:ext>
            </a:extLst>
          </p:cNvPr>
          <p:cNvPicPr>
            <a:picLocks noChangeAspect="1"/>
          </p:cNvPicPr>
          <p:nvPr/>
        </p:nvPicPr>
        <p:blipFill>
          <a:blip r:embed="rId3"/>
          <a:stretch>
            <a:fillRect/>
          </a:stretch>
        </p:blipFill>
        <p:spPr>
          <a:xfrm>
            <a:off x="2696278" y="1665027"/>
            <a:ext cx="5477901" cy="4640515"/>
          </a:xfrm>
          <a:prstGeom prst="rect">
            <a:avLst/>
          </a:prstGeom>
        </p:spPr>
      </p:pic>
    </p:spTree>
    <p:extLst>
      <p:ext uri="{BB962C8B-B14F-4D97-AF65-F5344CB8AC3E}">
        <p14:creationId xmlns:p14="http://schemas.microsoft.com/office/powerpoint/2010/main" val="1139160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06247-0024-9D29-B79A-194A5C70E773}"/>
              </a:ext>
            </a:extLst>
          </p:cNvPr>
          <p:cNvSpPr>
            <a:spLocks noGrp="1"/>
          </p:cNvSpPr>
          <p:nvPr>
            <p:ph type="title"/>
          </p:nvPr>
        </p:nvSpPr>
        <p:spPr/>
        <p:txBody>
          <a:bodyPr/>
          <a:lstStyle/>
          <a:p>
            <a:r>
              <a:rPr lang="en-US" dirty="0"/>
              <a:t>Output Example</a:t>
            </a:r>
          </a:p>
        </p:txBody>
      </p:sp>
      <p:pic>
        <p:nvPicPr>
          <p:cNvPr id="5" name="Picture 4">
            <a:extLst>
              <a:ext uri="{FF2B5EF4-FFF2-40B4-BE49-F238E27FC236}">
                <a16:creationId xmlns:a16="http://schemas.microsoft.com/office/drawing/2014/main" id="{3DBC77F7-7166-3100-8C6F-1E58E74A86E3}"/>
              </a:ext>
            </a:extLst>
          </p:cNvPr>
          <p:cNvPicPr>
            <a:picLocks noChangeAspect="1"/>
          </p:cNvPicPr>
          <p:nvPr/>
        </p:nvPicPr>
        <p:blipFill>
          <a:blip r:embed="rId3"/>
          <a:stretch>
            <a:fillRect/>
          </a:stretch>
        </p:blipFill>
        <p:spPr>
          <a:xfrm>
            <a:off x="1828580" y="1756030"/>
            <a:ext cx="8534839" cy="4819898"/>
          </a:xfrm>
          <a:prstGeom prst="rect">
            <a:avLst/>
          </a:prstGeom>
        </p:spPr>
      </p:pic>
    </p:spTree>
    <p:extLst>
      <p:ext uri="{BB962C8B-B14F-4D97-AF65-F5344CB8AC3E}">
        <p14:creationId xmlns:p14="http://schemas.microsoft.com/office/powerpoint/2010/main" val="3742263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Benefit: Reduced tech debt</a:t>
            </a:r>
          </a:p>
          <a:p>
            <a:pPr marL="228600" lvl="0" indent="-228600" algn="l" rtl="0">
              <a:lnSpc>
                <a:spcPct val="90000"/>
              </a:lnSpc>
              <a:spcBef>
                <a:spcPts val="0"/>
              </a:spcBef>
              <a:spcAft>
                <a:spcPts val="0"/>
              </a:spcAft>
              <a:buClr>
                <a:schemeClr val="lt1"/>
              </a:buClr>
              <a:buSzPts val="2000"/>
              <a:buChar char="•"/>
            </a:pPr>
            <a:r>
              <a:rPr lang="en-US" dirty="0"/>
              <a:t>Risk: Increased development time</a:t>
            </a:r>
          </a:p>
          <a:p>
            <a:pPr marL="228600" lvl="0" indent="-228600" algn="l" rtl="0">
              <a:lnSpc>
                <a:spcPct val="90000"/>
              </a:lnSpc>
              <a:spcBef>
                <a:spcPts val="0"/>
              </a:spcBef>
              <a:spcAft>
                <a:spcPts val="0"/>
              </a:spcAft>
              <a:buClr>
                <a:schemeClr val="lt1"/>
              </a:buClr>
              <a:buSzPts val="2000"/>
              <a:buChar char="•"/>
            </a:pPr>
            <a:r>
              <a:rPr lang="en-US" dirty="0"/>
              <a:t>Benefit: Less security flaws to exploit</a:t>
            </a:r>
          </a:p>
          <a:p>
            <a:pPr marL="228600" lvl="0" indent="-228600" algn="l" rtl="0">
              <a:lnSpc>
                <a:spcPct val="90000"/>
              </a:lnSpc>
              <a:spcBef>
                <a:spcPts val="0"/>
              </a:spcBef>
              <a:spcAft>
                <a:spcPts val="0"/>
              </a:spcAft>
              <a:buClr>
                <a:schemeClr val="lt1"/>
              </a:buClr>
              <a:buSzPts val="2000"/>
              <a:buChar char="•"/>
            </a:pPr>
            <a:r>
              <a:rPr lang="en-US" dirty="0"/>
              <a:t>Hole: Specific technology</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90000"/>
              </a:lnSpc>
              <a:spcBef>
                <a:spcPts val="0"/>
              </a:spcBef>
              <a:spcAft>
                <a:spcPts val="0"/>
              </a:spcAft>
              <a:buClr>
                <a:schemeClr val="lt1"/>
              </a:buClr>
              <a:buSzPts val="1800"/>
              <a:buChar char="•"/>
            </a:pPr>
            <a:r>
              <a:rPr lang="en-US" sz="2400" dirty="0"/>
              <a:t>Specific software</a:t>
            </a:r>
          </a:p>
          <a:p>
            <a:pPr marL="1143000" lvl="2" indent="-228600" algn="l" rtl="0">
              <a:lnSpc>
                <a:spcPct val="90000"/>
              </a:lnSpc>
              <a:spcBef>
                <a:spcPts val="0"/>
              </a:spcBef>
              <a:spcAft>
                <a:spcPts val="0"/>
              </a:spcAft>
              <a:buClr>
                <a:schemeClr val="lt1"/>
              </a:buClr>
              <a:buSzPts val="1800"/>
              <a:buChar char="•"/>
            </a:pPr>
            <a:r>
              <a:rPr lang="en-US" sz="2400" dirty="0"/>
              <a:t>Specific guidelines on Unit Testing</a:t>
            </a:r>
          </a:p>
          <a:p>
            <a:pPr marL="1143000" lvl="2" indent="-228600" algn="l" rtl="0">
              <a:lnSpc>
                <a:spcPct val="90000"/>
              </a:lnSpc>
              <a:spcBef>
                <a:spcPts val="0"/>
              </a:spcBef>
              <a:spcAft>
                <a:spcPts val="0"/>
              </a:spcAft>
              <a:buClr>
                <a:schemeClr val="lt1"/>
              </a:buClr>
              <a:buSzPts val="1800"/>
              <a:buChar char="•"/>
            </a:pPr>
            <a:r>
              <a:rPr lang="en-US" sz="2400" dirty="0"/>
              <a:t>Addressing more potential threats (phishing, bad user behavior).</a:t>
            </a:r>
            <a:endParaRPr sz="2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More robust unit testing standards</a:t>
            </a:r>
          </a:p>
          <a:p>
            <a:pPr marL="228600" lvl="0" indent="-228600" algn="l" rtl="0">
              <a:lnSpc>
                <a:spcPct val="90000"/>
              </a:lnSpc>
              <a:spcBef>
                <a:spcPts val="0"/>
              </a:spcBef>
              <a:spcAft>
                <a:spcPts val="0"/>
              </a:spcAft>
              <a:buClr>
                <a:schemeClr val="lt1"/>
              </a:buClr>
              <a:buSzPts val="2200"/>
              <a:buChar char="•"/>
            </a:pPr>
            <a:r>
              <a:rPr lang="en-US" dirty="0"/>
              <a:t>Security for Green Pace employees</a:t>
            </a:r>
          </a:p>
          <a:p>
            <a:pPr marL="228600" lvl="0" indent="-228600" algn="l" rtl="0">
              <a:lnSpc>
                <a:spcPct val="90000"/>
              </a:lnSpc>
              <a:spcBef>
                <a:spcPts val="0"/>
              </a:spcBef>
              <a:spcAft>
                <a:spcPts val="0"/>
              </a:spcAft>
              <a:buClr>
                <a:schemeClr val="lt1"/>
              </a:buClr>
              <a:buSzPts val="2200"/>
              <a:buChar char="•"/>
            </a:pPr>
            <a:r>
              <a:rPr lang="en-US" dirty="0"/>
              <a:t>Monitoring threats other companies experience</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Fortinet. (2023). </a:t>
            </a:r>
            <a:r>
              <a:rPr lang="en-US" i="1" dirty="0"/>
              <a:t>What Is Authentication, Authorization, And Accounting (AAA) Security?</a:t>
            </a:r>
            <a:r>
              <a:rPr lang="en-US" dirty="0"/>
              <a:t> Fortinet. </a:t>
            </a:r>
            <a:r>
              <a:rPr lang="en-US" dirty="0">
                <a:hlinkClick r:id="rId4"/>
              </a:rPr>
              <a:t>https://www.fortinet.com/resources/cyberglossary/aaa-security</a:t>
            </a:r>
            <a:endParaRPr lang="en-US" dirty="0"/>
          </a:p>
          <a:p>
            <a:r>
              <a:rPr lang="en-US" dirty="0"/>
              <a:t>Rowinski, M. (2021, July 22). </a:t>
            </a:r>
            <a:r>
              <a:rPr lang="en-US" i="1" dirty="0"/>
              <a:t>Data Encryption: How to Protect Data in Transit, Data in Use and Data at Rest | Mimecast Blog</a:t>
            </a:r>
            <a:r>
              <a:rPr lang="en-US" dirty="0"/>
              <a:t>. Mime01mstr6a4a2prod.dxcloud.episerver.net. https://www.mimecast.com/blog/data-in-transit-vs-motion-vs-rest/</a:t>
            </a:r>
          </a:p>
          <a:p>
            <a:r>
              <a:rPr lang="en-US" dirty="0"/>
              <a:t>‌Vicente, V. (2026). </a:t>
            </a:r>
            <a:r>
              <a:rPr lang="en-US" i="1" dirty="0"/>
              <a:t>Risk Assessment Matrix: Overview and Guide</a:t>
            </a:r>
            <a:r>
              <a:rPr lang="en-US" dirty="0"/>
              <a:t>. Optro.ai. </a:t>
            </a:r>
            <a:r>
              <a:rPr lang="en-US" dirty="0">
                <a:hlinkClick r:id="rId5"/>
              </a:rPr>
              <a:t>https://optro.ai/blog/what-is-a-risk-assessment-matrix</a:t>
            </a:r>
            <a:endParaRPr lang="en-US" dirty="0"/>
          </a:p>
          <a:p>
            <a:endParaRPr lang="en-US" dirty="0"/>
          </a:p>
        </p:txBody>
      </p:sp>
      <p:pic>
        <p:nvPicPr>
          <p:cNvPr id="239" name="Google Shape;239;p1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292</TotalTime>
  <Words>2125</Words>
  <Application>Microsoft Office PowerPoint</Application>
  <PresentationFormat>Widescreen</PresentationFormat>
  <Paragraphs>139</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Exception Throwing</vt:lpstr>
      <vt:lpstr>Clear Erase</vt:lpstr>
      <vt:lpstr>Output Example</vt:lpstr>
      <vt:lpstr>AUTOMATION SUMMARY</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Shamble, Eleanor</cp:lastModifiedBy>
  <cp:revision>23</cp:revision>
  <dcterms:created xsi:type="dcterms:W3CDTF">2020-08-19T17:59:24Z</dcterms:created>
  <dcterms:modified xsi:type="dcterms:W3CDTF">2026-04-27T00:36:53Z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